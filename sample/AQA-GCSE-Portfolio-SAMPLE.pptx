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5124176"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justification and evaluation reasoning. The brief was written after a fifteen minute interview with the client and a photograph study of the desk in use over one week. Client needs identified: (1) reclaim working area, (2) hold the phone at a viewing angle while charging, (3) stop small items rolling onto the floor. Research findings that shaped the brief: the client already owns a 100 mm wireless charging pad, so the stand must have an open base rather than a solid one; the desk has a raised back edge, so the organiser cannot rely on clamps or fixings. Material choice justification: 12 mm beech ply was selected over MDF because the visible edges of the finger joints would be stronger and would take a clear lacquer without swelling. Testing against the specification is recorded on the testing and evaluation slides, where each of the ten specification points is judged as met, partly met or not met. Evaluation of strengths and weaknesses: the organiser met the storage and charging requirements, but the pen well was 15 mm too shallow in the first prototype, which was corrected in the final design, and the 6 mm drainage gap proved too narrow. Further development would widen the drainage gap, make the cork base replaceable and add a cable tidy. The client reviewed the work at three points and their comments are recorded on the client feedback slides.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Testing against the specification and evaluation reasoning. Nine of the ten specification points were tested physically, and the tenth (mass) was checked on the workshop scale at 0.94 kg, which is inside the 1.2 kg limit. Evaluation of strengths: the open base design allowed the charging pad to be used without any modification to the client's existing equipment, and the finger jointed construction needed no fixings at all, so nothing can work loose. Evaluation of weaknesses: the first model was unstable under a 1.5 kg load, which showed that the base was too narrow, and the glue stick compartment at the rear is hard to reach. Client feedback at this stage was that the phone angle was much better than the shop one, but that the pen well needed to be deeper. Material choice justification was re-checked: beech ply survived the damp cloth test better than the MDF sample, which swelled at the edges. Research findings from the existing product study predicted this, because the plywood tidy reviewed online also used a lacquered finish rather than a bare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Evaluation against the specification and against the client brief. Testing against specification: all ten points were met, with point 6 only partly met because the cork pad is not replaceable. Client feedback: the client tested the finished organiser for two weeks and reported that the desk was clearer, that the phone angle was comfortable for video calls and that the steel rule no longer rolled onto the floor. The client's main criticism was that the pen well collects pencil sharpenings, because the 6 mm drainage gap is too narrow. Strengths: no fixings, single sheet manufacture, low waste and a finish that survives wiping. Weaknesses: the glue stick compartment is still awkward to reach and the phone support does not accept a tablet. Improvements that would be made with more time: widen the drainage gap to 10 mm, add a removable cork pad held with hook and loop tape, and add a cable tidy at the rear. Further development: a larger version for a 300 mm deep desk and a version with a slot for a 10 inch tablet. The design would need to be re-tested if the material changed to MDF, because the joint strength would be lower. Research findings were used throughout rather than opinion, which is what the mark scheme asks for.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600" b="1">
                <a:solidFill>
                  <a:srgbClr val="1F1F1F"/>
                </a:solidFill>
                <a:latin typeface="Calibri"/>
              </a:rPr>
              <a:t>Client Brief and Context</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800">
                <a:solidFill>
                  <a:srgbClr val="1F1F1F"/>
                </a:solidFill>
                <a:latin typeface="Calibri"/>
              </a:rPr>
              <a:t>The client is a Year 11 student at a mixed secondary school who shares a small bedroom and works at a 1,200 mm wide desk that is also used for artwork and revision. The desk currently holds a laptop, a lamp, a phone charger, three pens, a steel rule, a scientific calculator, a glue stick, a set of headphones and a mug, and there is no dedicated storage for any of it.</a:t>
            </a:r>
          </a:p>
          <a:p>
            <a:pPr>
              <a:spcAft>
                <a:spcPts val="800"/>
              </a:spcAft>
            </a:pPr>
            <a:r>
              <a:rPr sz="1800">
                <a:solidFill>
                  <a:srgbClr val="1F1F1F"/>
                </a:solidFill>
                <a:latin typeface="Calibri"/>
              </a:rPr>
              <a:t>The client asked for a product that would keep the working area clear, hold a phone at a readable angle while it charges wirelessly, and store the small items that are constantly being knocked onto the floor. The brief is for a single, free-standing desk organiser that can be lifted with one hand and that will fit into a 260 mm wide by 200 mm deep space in the corner of the desk.</a:t>
            </a:r>
          </a:p>
          <a:p>
            <a:pPr>
              <a:spcAft>
                <a:spcPts val="800"/>
              </a:spcAft>
            </a:pPr>
            <a:r>
              <a:rPr sz="1800">
                <a:solidFill>
                  <a:srgbClr val="1F1F1F"/>
                </a:solidFill>
                <a:latin typeface="Calibri"/>
              </a:rPr>
              <a:t>The product must be made mainly from sheet material that can be cut and finished in a school workshop, using hand tools and the laser cutter, within a ten week period and a materials budget of 18 pounds.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The Client and the Design Context</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800">
                <a:solidFill>
                  <a:srgbClr val="1F1F1F"/>
                </a:solidFill>
                <a:latin typeface="Calibri"/>
              </a:rPr>
              <a:t>Client profile: 16 year old student, right handed, shares a bedroom with a younger brother and studies Design and Technology, Geography and Computer Science. The desk is 1,200 mm x 600 mm and is positioned under a window, wich means there is no wall space behind it for a shelf.</a:t>
            </a:r>
          </a:p>
          <a:p>
            <a:pPr>
              <a:spcAft>
                <a:spcPts val="800"/>
              </a:spcAft>
            </a:pPr>
            <a:r>
              <a:rPr sz="1800">
                <a:solidFill>
                  <a:srgbClr val="1F1F1F"/>
                </a:solidFill>
                <a:latin typeface="Calibri"/>
              </a:rPr>
              <a:t>Context of the problem: the client's existing storage is a fabric pencil case and a stack of textbooks. Items are put down wherever there is space, which means the mouse area is regularly blocked. Photographs taken over one week showed that an average of nine loose items were on the desk at any time.</a:t>
            </a:r>
          </a:p>
          <a:p>
            <a:pPr>
              <a:spcAft>
                <a:spcPts val="800"/>
              </a:spcAft>
            </a:pPr>
            <a:r>
              <a:rPr sz="1800">
                <a:solidFill>
                  <a:srgbClr val="1F1F1F"/>
                </a:solidFill>
                <a:latin typeface="Calibri"/>
              </a:rPr>
              <a:t>Design context: the product sits in the desk accessories category alongside commercial tidies from IKEA, Muji and HAY. The client wanted something that looked deliberate rather than improvised, and specifically asked for a natural timber finish so that it would not look like the plastic tidies used in the school workshop.</a:t>
            </a:r>
          </a:p>
          <a:p>
            <a:pPr>
              <a:spcAft>
                <a:spcPts val="800"/>
              </a:spcAft>
            </a:pPr>
            <a:r>
              <a:rPr sz="1800">
                <a:solidFill>
                  <a:srgbClr val="1F1F1F"/>
                </a:solidFill>
                <a:latin typeface="Calibri"/>
              </a:rPr>
              <a:t>Constraints identified: no fixings into the desk, no mains wiring, maximum mass 1.2 kg, and all edges must be rounded because the client carries the organiser between home and school twice a 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Research: Existing Products</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600">
                <a:solidFill>
                  <a:srgbClr val="1F1F1F"/>
                </a:solidFill>
                <a:latin typeface="Calibri"/>
              </a:rPr>
              <a:t>The first existing product reviewed was the IKEA Kuggis desk tidy, which is a moulded plastic tray measuring 240 mm x 170 mm x 60 mm. It is cheap and wipes clean, but it has a single large compartment, so pens fall over and the phone has to lie flat.</a:t>
            </a:r>
          </a:p>
          <a:p>
            <a:pPr>
              <a:spcAft>
                <a:spcPts val="800"/>
              </a:spcAft>
            </a:pPr>
            <a:r>
              <a:rPr sz="1600">
                <a:solidFill>
                  <a:srgbClr val="1F1F1F"/>
                </a:solidFill>
                <a:latin typeface="Calibri"/>
              </a:rPr>
              <a:t>The second was a laser cut plywood organiser sold online for 22 pounds. It uses 6 mm birch ply with finger joints and a slot for a tablet. It stores items well, but the phone slot is angled at 60 degrees, which the client found too upright for video calls, and the base is not wide enough to be stable when a tablet is in place.</a:t>
            </a:r>
          </a:p>
          <a:p>
            <a:pPr>
              <a:spcAft>
                <a:spcPts val="800"/>
              </a:spcAft>
            </a:pPr>
            <a:r>
              <a:rPr sz="1600">
                <a:solidFill>
                  <a:srgbClr val="1F1F1F"/>
                </a:solidFill>
                <a:latin typeface="Calibri"/>
              </a:rPr>
              <a:t>The third was an acrylic pen pot, 75 mm square, which is a good size for pens but gives no protection from dust and does not hold a phone at all.</a:t>
            </a:r>
          </a:p>
          <a:p>
            <a:pPr>
              <a:spcAft>
                <a:spcPts val="800"/>
              </a:spcAft>
            </a:pPr>
            <a:r>
              <a:rPr sz="1600">
                <a:solidFill>
                  <a:srgbClr val="1F1F1F"/>
                </a:solidFill>
                <a:latin typeface="Calibri"/>
              </a:rPr>
              <a:t>The fourth product reviewed was a wireless charging stand with an integrated tray, priced at 34 pounds. This met the charging requirement, but the tray was too shallow for a 300 mm steel rule and the mains cable had to be routed across the desk, which the client disliked.</a:t>
            </a:r>
          </a:p>
          <a:p>
            <a:pPr>
              <a:spcAft>
                <a:spcPts val="800"/>
              </a:spcAft>
            </a:pPr>
            <a:r>
              <a:rPr sz="1600">
                <a:solidFill>
                  <a:srgbClr val="1F1F1F"/>
                </a:solidFill>
                <a:latin typeface="Calibri"/>
              </a:rPr>
              <a:t>Findings: none of the products reviewed combined stable storage with an open based phone stand. The gap in the market for this client is an organiser that uses an open frame under the phone so that a charging pad can be slid in from behind, and that separates tall items from small items so that nothing has to be dug out. This finding directly shaped specification points 2, 4 and 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48640"/>
            <a:ext cx="14173200" cy="9509760"/>
          </a:xfrm>
          <a:prstGeom prst="rect">
            <a:avLst/>
          </a:prstGeom>
          <a:noFill/>
        </p:spPr>
        <p:txBody>
          <a:bodyPr wrap="square">
            <a:spAutoFit/>
          </a:bodyPr>
          <a:lstStyle/>
          <a:p>
            <a:pPr>
              <a:spcAft>
                <a:spcPts val="800"/>
              </a:spcAft>
            </a:pPr>
            <a:r>
              <a:rPr sz="1600">
                <a:solidFill>
                  <a:srgbClr val="1F1F1F"/>
                </a:solidFill>
                <a:latin typeface="Calibri"/>
              </a:rPr>
              <a:t>Interview findings, 12 October. Ten questions were asked and the responses were recorded in the research log.</a:t>
            </a:r>
          </a:p>
          <a:p>
            <a:pPr>
              <a:spcAft>
                <a:spcPts val="800"/>
              </a:spcAft>
            </a:pPr>
            <a:r>
              <a:rPr sz="1600">
                <a:solidFill>
                  <a:srgbClr val="1F1F1F"/>
                </a:solidFill>
                <a:latin typeface="Calibri"/>
              </a:rPr>
              <a:t>Question 1: what do you keep on the desk? Answers: pens, a 300 mm steel rule, a scientific calculator, a glue stick, headphones, a phone and a mug.</a:t>
            </a:r>
          </a:p>
          <a:p>
            <a:pPr>
              <a:spcAft>
                <a:spcPts val="800"/>
              </a:spcAft>
            </a:pPr>
            <a:r>
              <a:rPr sz="1600">
                <a:solidFill>
                  <a:srgbClr val="1F1F1F"/>
                </a:solidFill>
                <a:latin typeface="Calibri"/>
              </a:rPr>
              <a:t>Question 2: what annoys you most? The answer was that the steel rule and the pens roll onto the floor, and that the phone cable is always in the way.</a:t>
            </a:r>
          </a:p>
          <a:p>
            <a:pPr>
              <a:spcAft>
                <a:spcPts val="800"/>
              </a:spcAft>
            </a:pPr>
            <a:r>
              <a:rPr sz="1600">
                <a:solidFill>
                  <a:srgbClr val="1F1F1F"/>
                </a:solidFill>
                <a:latin typeface="Calibri"/>
              </a:rPr>
              <a:t>Question 3: how often do you tidy the desk? The client said about once a week, usually because they cannot find anything.</a:t>
            </a:r>
          </a:p>
          <a:p>
            <a:pPr>
              <a:spcAft>
                <a:spcPts val="800"/>
              </a:spcAft>
            </a:pPr>
            <a:r>
              <a:rPr sz="1600">
                <a:solidFill>
                  <a:srgbClr val="1F1F1F"/>
                </a:solidFill>
                <a:latin typeface="Calibri"/>
              </a:rPr>
              <a:t>Question 4: would you use wireless charging? Yes. The client already owns a 100 mm charging pad, but it lives on the floor because there is nowhere to put it.</a:t>
            </a:r>
          </a:p>
          <a:p>
            <a:pPr>
              <a:spcAft>
                <a:spcPts val="800"/>
              </a:spcAft>
            </a:pPr>
            <a:r>
              <a:rPr sz="1600">
                <a:solidFill>
                  <a:srgbClr val="1F1F1F"/>
                </a:solidFill>
                <a:latin typeface="Calibri"/>
              </a:rPr>
              <a:t>Question 5: what finish do you want? Natural timber, no bright colours, because the bedroom is painted white and pale grey.</a:t>
            </a:r>
          </a:p>
          <a:p>
            <a:pPr>
              <a:spcAft>
                <a:spcPts val="800"/>
              </a:spcAft>
            </a:pPr>
            <a:r>
              <a:rPr sz="1600">
                <a:solidFill>
                  <a:srgbClr val="1F1F1F"/>
                </a:solidFill>
                <a:latin typeface="Calibri"/>
              </a:rPr>
              <a:t>Question 6: how heavy can it be? The client carries equipment in a rucksack, so under about 1.2 kg.</a:t>
            </a:r>
          </a:p>
          <a:p>
            <a:pPr>
              <a:spcAft>
                <a:spcPts val="800"/>
              </a:spcAft>
            </a:pPr>
            <a:r>
              <a:rPr sz="1600">
                <a:solidFill>
                  <a:srgbClr val="1F1F1F"/>
                </a:solidFill>
                <a:latin typeface="Calibri"/>
              </a:rPr>
              <a:t>Question 7: do you need lockable storage? No, but the client does not want anything that hides the phone screen.</a:t>
            </a:r>
          </a:p>
          <a:p>
            <a:pPr>
              <a:spcAft>
                <a:spcPts val="800"/>
              </a:spcAft>
            </a:pPr>
            <a:r>
              <a:rPr sz="1600">
                <a:solidFill>
                  <a:srgbClr val="1F1F1F"/>
                </a:solidFill>
                <a:latin typeface="Calibri"/>
              </a:rPr>
              <a:t>Question 8: how much would you pay? The client suggested 15 to 20 pounds, which matches the materials budget.</a:t>
            </a:r>
          </a:p>
          <a:p>
            <a:pPr>
              <a:spcAft>
                <a:spcPts val="800"/>
              </a:spcAft>
            </a:pPr>
            <a:r>
              <a:rPr sz="1600">
                <a:solidFill>
                  <a:srgbClr val="1F1F1F"/>
                </a:solidFill>
                <a:latin typeface="Calibri"/>
              </a:rPr>
              <a:t>Summary of the main need: a stable, open, timber organiser that keeps the mouse area clear and holds the phone at a usable angle while charging. This is the need that the design specification is written against.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600" b="1">
                <a:solidFill>
                  <a:srgbClr val="1F1F1F"/>
                </a:solidFill>
                <a:latin typeface="Calibri"/>
              </a:rPr>
              <a:t>Design Specification</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600"/>
              </a:spcAft>
            </a:pPr>
            <a:r>
              <a:rPr sz="1600">
                <a:solidFill>
                  <a:srgbClr val="1F1F1F"/>
                </a:solidFill>
                <a:latin typeface="Calibri"/>
              </a:rPr>
              <a:t>1. The organiser must fit within a footprint of 260 mm wide x 200 mm deep x 180 mm high so that it fits the corner of the desk.</a:t>
            </a:r>
          </a:p>
          <a:p>
            <a:pPr>
              <a:spcAft>
                <a:spcPts val="600"/>
              </a:spcAft>
            </a:pPr>
            <a:r>
              <a:rPr sz="1600">
                <a:solidFill>
                  <a:srgbClr val="1F1F1F"/>
                </a:solidFill>
                <a:latin typeface="Calibri"/>
              </a:rPr>
              <a:t>2. The organiser must hold a minimum of six pens or pencils of up to 190 mm in length in an upright position, with 15 mm of finger clearance around the well.</a:t>
            </a:r>
          </a:p>
          <a:p>
            <a:pPr>
              <a:spcAft>
                <a:spcPts val="600"/>
              </a:spcAft>
            </a:pPr>
            <a:r>
              <a:rPr sz="1600">
                <a:solidFill>
                  <a:srgbClr val="1F1F1F"/>
                </a:solidFill>
                <a:latin typeface="Calibri"/>
              </a:rPr>
              <a:t>3. The organiser must support a phone measuring up to 160 mm x 80 mm x 12 mm at an angle between 55 and 70 degrees from horizontal.</a:t>
            </a:r>
          </a:p>
          <a:p>
            <a:pPr>
              <a:spcAft>
                <a:spcPts val="600"/>
              </a:spcAft>
            </a:pPr>
            <a:r>
              <a:rPr sz="1600">
                <a:solidFill>
                  <a:srgbClr val="1F1F1F"/>
                </a:solidFill>
                <a:latin typeface="Calibri"/>
              </a:rPr>
              <a:t>4. The organiser must have an open base at least 110 mm x 110 mm so that a 100 mm wireless charging pad can be slid underneath the phone.</a:t>
            </a:r>
          </a:p>
          <a:p>
            <a:pPr>
              <a:spcAft>
                <a:spcPts val="600"/>
              </a:spcAft>
            </a:pPr>
            <a:r>
              <a:rPr sz="1600">
                <a:solidFill>
                  <a:srgbClr val="1F1F1F"/>
                </a:solidFill>
                <a:latin typeface="Calibri"/>
              </a:rPr>
              <a:t>5. The organiser must have a separate channel at least 320 mm long for a 300 mm steel rule.</a:t>
            </a:r>
          </a:p>
          <a:p>
            <a:pPr>
              <a:spcAft>
                <a:spcPts val="600"/>
              </a:spcAft>
            </a:pPr>
            <a:r>
              <a:rPr sz="1600">
                <a:solidFill>
                  <a:srgbClr val="1F1F1F"/>
                </a:solidFill>
                <a:latin typeface="Calibri"/>
              </a:rPr>
              <a:t>6. The organiser must not mark or scratch the desk surface; all contact faces must be lined with 1.5 mm cork or felt.</a:t>
            </a:r>
          </a:p>
          <a:p>
            <a:pPr>
              <a:spcAft>
                <a:spcPts val="600"/>
              </a:spcAft>
            </a:pPr>
            <a:r>
              <a:rPr sz="1600">
                <a:solidFill>
                  <a:srgbClr val="1F1F1F"/>
                </a:solidFill>
                <a:latin typeface="Calibri"/>
              </a:rPr>
              <a:t>7. The organiser must have no sharp edges; all external edges to have a minimum 2 mm radius.</a:t>
            </a:r>
          </a:p>
          <a:p>
            <a:pPr>
              <a:spcAft>
                <a:spcPts val="600"/>
              </a:spcAft>
            </a:pPr>
            <a:r>
              <a:rPr sz="1600">
                <a:solidFill>
                  <a:srgbClr val="1F1F1F"/>
                </a:solidFill>
                <a:latin typeface="Calibri"/>
              </a:rPr>
              <a:t>8. The organiser must have a total mass of no more than 1.2 kg.</a:t>
            </a:r>
          </a:p>
          <a:p>
            <a:pPr>
              <a:spcAft>
                <a:spcPts val="600"/>
              </a:spcAft>
            </a:pPr>
            <a:r>
              <a:rPr sz="1600">
                <a:solidFill>
                  <a:srgbClr val="1F1F1F"/>
                </a:solidFill>
                <a:latin typeface="Calibri"/>
              </a:rPr>
              <a:t>9. The organiser must be finished with a clear, water resistant lacquer so that it can be wiped clean.</a:t>
            </a:r>
          </a:p>
          <a:p>
            <a:pPr>
              <a:spcAft>
                <a:spcPts val="600"/>
              </a:spcAft>
            </a:pPr>
            <a:r>
              <a:rPr sz="1600">
                <a:solidFill>
                  <a:srgbClr val="1F1F1F"/>
                </a:solidFill>
                <a:latin typeface="Calibri"/>
              </a:rPr>
              <a:t>10. The organiser must be manufactured from sheet material no thicker than 12 mm that can be cut on the school laser cutter, bed size 600 mm x 400 mm.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Initial Ideas</a:t>
            </a:r>
          </a:p>
        </p:txBody>
      </p:sp>
      <p:sp>
        <p:nvSpPr>
          <p:cNvPr id="3" name="TextBox 2"/>
          <p:cNvSpPr txBox="1"/>
          <p:nvPr/>
        </p:nvSpPr>
        <p:spPr>
          <a:xfrm>
            <a:off x="457200" y="1508760"/>
            <a:ext cx="7498079" cy="8595360"/>
          </a:xfrm>
          <a:prstGeom prst="rect">
            <a:avLst/>
          </a:prstGeom>
          <a:noFill/>
        </p:spPr>
        <p:txBody>
          <a:bodyPr wrap="square">
            <a:spAutoFit/>
          </a:bodyPr>
          <a:lstStyle/>
          <a:p>
            <a:pPr>
              <a:spcAft>
                <a:spcPts val="800"/>
              </a:spcAft>
            </a:pPr>
            <a:r>
              <a:rPr sz="1600">
                <a:solidFill>
                  <a:srgbClr val="1F1F1F"/>
                </a:solidFill>
                <a:latin typeface="Calibri"/>
              </a:rPr>
              <a:t>Four initial ideas were sketched and annotated. Idea 1 was a simple three compartment tray in 12 mm MDF with a flat phone shelf. Idea 2 was an angled, laser cut plywood stand with a slot for the charging pad. Idea 3 was a folded acrylic design using heat bent 4 mm acrylic. Idea 4 was a modular system of three separate blocks that could be rearranged.</a:t>
            </a:r>
          </a:p>
          <a:p>
            <a:pPr>
              <a:spcAft>
                <a:spcPts val="800"/>
              </a:spcAft>
            </a:pPr>
            <a:r>
              <a:rPr sz="1600">
                <a:solidFill>
                  <a:srgbClr val="1F1F1F"/>
                </a:solidFill>
                <a:latin typeface="Calibri"/>
              </a:rPr>
              <a:t>Idea 1 was rejected because the flat phone shelf would not let the client see notifications while working.</a:t>
            </a:r>
          </a:p>
          <a:p>
            <a:pPr>
              <a:spcAft>
                <a:spcPts val="800"/>
              </a:spcAft>
            </a:pPr>
            <a:r>
              <a:rPr sz="1600">
                <a:solidFill>
                  <a:srgbClr val="1F1F1F"/>
                </a:solidFill>
                <a:latin typeface="Calibri"/>
              </a:rPr>
              <a:t>Idea 3 was rejected because heat bending 4 mm acrylic to a consistent angle needs an oven and a jig that are not available in the workshop, and because acrylic scratches easily.</a:t>
            </a:r>
          </a:p>
          <a:p>
            <a:pPr>
              <a:spcAft>
                <a:spcPts val="800"/>
              </a:spcAft>
            </a:pPr>
            <a:r>
              <a:rPr sz="1600">
                <a:solidFill>
                  <a:srgbClr val="1F1F1F"/>
                </a:solidFill>
                <a:latin typeface="Calibri"/>
              </a:rPr>
              <a:t>Idea 4 was rejected because three loose blocks would slide apart in a rucksack.</a:t>
            </a:r>
          </a:p>
          <a:p>
            <a:pPr>
              <a:spcAft>
                <a:spcPts val="800"/>
              </a:spcAft>
            </a:pPr>
            <a:r>
              <a:rPr sz="1600">
                <a:solidFill>
                  <a:srgbClr val="1F1F1F"/>
                </a:solidFill>
                <a:latin typeface="Calibri"/>
              </a:rPr>
              <a:t>Idea 2 was selected for development because it can be cut on the laser cutter from a single 600 mm x 400 mm sheet of 12 mm beech ply with very little waste, it uses finger joints that are strong in the direction of load, and it can be made in one lesson once the file is prepared.</a:t>
            </a:r>
          </a:p>
        </p:txBody>
      </p:sp>
      <p:pic>
        <p:nvPicPr>
          <p:cNvPr id="4" name="Picture 3" descr="sketch_ideas_40x30.png"/>
          <p:cNvPicPr>
            <a:picLocks noChangeAspect="1"/>
          </p:cNvPicPr>
          <p:nvPr/>
        </p:nvPicPr>
        <p:blipFill>
          <a:blip r:embed="rId2"/>
          <a:stretch>
            <a:fillRect/>
          </a:stretch>
        </p:blipFill>
        <p:spPr>
          <a:xfrm>
            <a:off x="8229600" y="4572000"/>
            <a:ext cx="4572000" cy="3429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2800" b="1">
                <a:solidFill>
                  <a:srgbClr val="1F1F1F"/>
                </a:solidFill>
                <a:latin typeface="Calibri"/>
              </a:rPr>
              <a:t>Design Development: Iteration Two</a:t>
            </a:r>
          </a:p>
        </p:txBody>
      </p:sp>
      <p:sp>
        <p:nvSpPr>
          <p:cNvPr id="3" name="TextBox 2"/>
          <p:cNvSpPr txBox="1"/>
          <p:nvPr/>
        </p:nvSpPr>
        <p:spPr>
          <a:xfrm>
            <a:off x="457200" y="1508760"/>
            <a:ext cx="7498079" cy="8595360"/>
          </a:xfrm>
          <a:prstGeom prst="rect">
            <a:avLst/>
          </a:prstGeom>
          <a:noFill/>
        </p:spPr>
        <p:txBody>
          <a:bodyPr wrap="square">
            <a:spAutoFit/>
          </a:bodyPr>
          <a:lstStyle/>
          <a:p>
            <a:pPr>
              <a:spcAft>
                <a:spcPts val="800"/>
              </a:spcAft>
            </a:pPr>
            <a:r>
              <a:rPr sz="1600">
                <a:solidFill>
                  <a:srgbClr val="1F1F1F"/>
                </a:solidFill>
                <a:latin typeface="Calibri"/>
              </a:rPr>
              <a:t>Development focused on the phone support angle and the depth of the pen well. A full size cardboard model was made at 1:1 and the client tested it with their own phone.</a:t>
            </a:r>
          </a:p>
          <a:p>
            <a:pPr>
              <a:spcAft>
                <a:spcPts val="800"/>
              </a:spcAft>
            </a:pPr>
            <a:r>
              <a:rPr sz="1600">
                <a:solidFill>
                  <a:srgbClr val="1F1F1F"/>
                </a:solidFill>
                <a:latin typeface="Calibri"/>
              </a:rPr>
              <a:t>Iteration 1 had a 45 degree phone support, which the client said was too flat for video calls and made the screen catch reflections from the window.</a:t>
            </a:r>
          </a:p>
          <a:p>
            <a:pPr>
              <a:spcAft>
                <a:spcPts val="800"/>
              </a:spcAft>
            </a:pPr>
            <a:r>
              <a:rPr sz="1600">
                <a:solidFill>
                  <a:srgbClr val="1F1F1F"/>
                </a:solidFill>
                <a:latin typeface="Calibri"/>
              </a:rPr>
              <a:t>Iteration 2 used a 62 degree support, which put the screen at a comfortable angle. The support is a 12 mm ply rib with a 6 mm deep lip at the front so that the phone cannot slide forward.</a:t>
            </a:r>
          </a:p>
          <a:p>
            <a:pPr>
              <a:spcAft>
                <a:spcPts val="800"/>
              </a:spcAft>
            </a:pPr>
            <a:r>
              <a:rPr sz="1600">
                <a:solidFill>
                  <a:srgbClr val="1F1F1F"/>
                </a:solidFill>
                <a:latin typeface="Calibri"/>
              </a:rPr>
              <a:t>The pen well was increased from 70 mm to 85 mm deep after the first model tipped forward when the steel rule was placed in the front slot.</a:t>
            </a:r>
          </a:p>
          <a:p>
            <a:pPr>
              <a:spcAft>
                <a:spcPts val="800"/>
              </a:spcAft>
            </a:pPr>
            <a:r>
              <a:rPr sz="1600">
                <a:solidFill>
                  <a:srgbClr val="1F1F1F"/>
                </a:solidFill>
                <a:latin typeface="Calibri"/>
              </a:rPr>
              <a:t>The base was widened from 180 mm to 210 mm and a 12 mm ply foot was added at the rear so that the organiser cannot be knocked over backwards.</a:t>
            </a:r>
          </a:p>
          <a:p>
            <a:pPr>
              <a:spcAft>
                <a:spcPts val="800"/>
              </a:spcAft>
            </a:pPr>
            <a:r>
              <a:rPr sz="1600">
                <a:solidFill>
                  <a:srgbClr val="1F1F1F"/>
                </a:solidFill>
                <a:latin typeface="Calibri"/>
              </a:rPr>
              <a:t>A 6 mm drainage gap was left at the bottom of the pen well so that dust and pencil sharpenings can be shaken out rather than trapped.</a:t>
            </a:r>
          </a:p>
          <a:p>
            <a:pPr>
              <a:spcAft>
                <a:spcPts val="800"/>
              </a:spcAft>
            </a:pPr>
            <a:r>
              <a:rPr sz="1600">
                <a:solidFill>
                  <a:srgbClr val="1F1F1F"/>
                </a:solidFill>
                <a:latin typeface="Calibri"/>
              </a:rPr>
              <a:t>Remaining problem: the glue stick compartment at the rear is difficult to reach when the organiser is against the raised back edge of the desk, so it was moved to the left hand side in the final design.</a:t>
            </a:r>
          </a:p>
        </p:txBody>
      </p:sp>
      <p:pic>
        <p:nvPicPr>
          <p:cNvPr id="4" name="Picture 3" descr="iteration2_40x30.png"/>
          <p:cNvPicPr>
            <a:picLocks noChangeAspect="1"/>
          </p:cNvPicPr>
          <p:nvPr/>
        </p:nvPicPr>
        <p:blipFill>
          <a:blip r:embed="rId2"/>
          <a:stretch>
            <a:fillRect/>
          </a:stretch>
        </p:blipFill>
        <p:spPr>
          <a:xfrm>
            <a:off x="8229600" y="4572000"/>
            <a:ext cx="4572000" cy="3429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2800" b="1">
                <a:solidFill>
                  <a:srgbClr val="1F1F1F"/>
                </a:solidFill>
                <a:latin typeface="Arial"/>
              </a:rPr>
              <a:t>Materials and Component Research</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600">
                <a:solidFill>
                  <a:srgbClr val="1F1F1F"/>
                </a:solidFill>
                <a:latin typeface="Arial"/>
              </a:rPr>
              <a:t>Material options were compared in a table of cost, workability, finish and sustainability.</a:t>
            </a:r>
          </a:p>
          <a:p>
            <a:pPr>
              <a:spcAft>
                <a:spcPts val="800"/>
              </a:spcAft>
            </a:pPr>
            <a:r>
              <a:rPr sz="1600">
                <a:solidFill>
                  <a:srgbClr val="1F1F1F"/>
                </a:solidFill>
                <a:latin typeface="Arial"/>
              </a:rPr>
              <a:t>12 mm beech ply at 14.60 pounds for a 600 mm x 400 mm sheet was selected. The face veneer is hard enough to resist dents from a steel rule and the edges sand to a clean, visible joint. It also takes a clear lacquer well.</a:t>
            </a:r>
          </a:p>
          <a:p>
            <a:pPr>
              <a:spcAft>
                <a:spcPts val="800"/>
              </a:spcAft>
            </a:pPr>
            <a:r>
              <a:rPr sz="1600">
                <a:solidFill>
                  <a:srgbClr val="1F1F1F"/>
                </a:solidFill>
                <a:latin typeface="Arial"/>
              </a:rPr>
              <a:t>12 mm MDF at 4.20 pounds per sheet was considered and rejected because the edges are weak, it swells if it gets wet, and the dust produced when sanding is a health hazard in a school workshop.</a:t>
            </a:r>
          </a:p>
          <a:p>
            <a:pPr>
              <a:spcAft>
                <a:spcPts val="800"/>
              </a:spcAft>
            </a:pPr>
            <a:r>
              <a:rPr sz="1600">
                <a:solidFill>
                  <a:srgbClr val="1F1F1F"/>
                </a:solidFill>
                <a:latin typeface="Arial"/>
              </a:rPr>
              <a:t>4 mm cast acrylic at 9.80 pounds per sheet was considered for the phone support but rejected because it scratches and because it can crack around a screw fixing.</a:t>
            </a:r>
          </a:p>
          <a:p>
            <a:pPr>
              <a:spcAft>
                <a:spcPts val="800"/>
              </a:spcAft>
            </a:pPr>
            <a:r>
              <a:rPr sz="1600">
                <a:solidFill>
                  <a:srgbClr val="1F1F1F"/>
                </a:solidFill>
                <a:latin typeface="Arial"/>
              </a:rPr>
              <a:t>Aluminium sheet was also researched. Aluminium is light and strong, but it cannot be cut on the laser cutter, it needs a seperate metalwork area to finish, and the client did not like the cold feel of it. The american spelling aluminum was used in the original notes, which was corrected for consistency.</a:t>
            </a:r>
          </a:p>
          <a:p>
            <a:pPr>
              <a:spcAft>
                <a:spcPts val="800"/>
              </a:spcAft>
            </a:pPr>
            <a:r>
              <a:rPr sz="1600">
                <a:solidFill>
                  <a:srgbClr val="1F1F1F"/>
                </a:solidFill>
                <a:latin typeface="Arial"/>
              </a:rPr>
              <a:t>Fixings: the final design uses no mechanical fixings at all. The joints are cut as 12 mm finger joints and glued with waterproof PVA, which is stronger than the plywood itself once cured.</a:t>
            </a:r>
          </a:p>
          <a:p>
            <a:pPr>
              <a:spcAft>
                <a:spcPts val="800"/>
              </a:spcAft>
            </a:pPr>
            <a:r>
              <a:rPr sz="1600">
                <a:solidFill>
                  <a:srgbClr val="1F1F1F"/>
                </a:solidFill>
                <a:latin typeface="Arial"/>
              </a:rPr>
              <a:t>The pad that protects the desk was cut from 1.5 mm cork sheet at 2.40 pounds, which was left over from another project and was recieved free of charge from the technician.</a:t>
            </a:r>
          </a:p>
          <a:p>
            <a:pPr>
              <a:spcAft>
                <a:spcPts val="800"/>
              </a:spcAft>
            </a:pPr>
            <a:r>
              <a:rPr sz="1600">
                <a:solidFill>
                  <a:srgbClr val="1F1F1F"/>
                </a:solidFill>
                <a:latin typeface="Arial"/>
              </a:rPr>
              <a:t>Lacquer: a water based clear polyurethane lacquer was chosen over an oil finish because it dries in 30 minutes, which fits the lesson time available.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2400" b="1">
                <a:solidFill>
                  <a:srgbClr val="1F1F1F"/>
                </a:solidFill>
                <a:latin typeface="Calibri"/>
              </a:rPr>
              <a:t>Anthropometrics and Ergonomic Research</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200">
                <a:solidFill>
                  <a:srgbClr val="1F1F1F"/>
                </a:solidFill>
                <a:latin typeface="Calibri"/>
              </a:rPr>
              <a:t>Anthropometric data was collected from the client and from two other students in the same year group so that the organiser would suit a range of users rather than a single person. The client is 1,720 mm tall and works at a desk that is 720 mm high, which is the standard height for a school desk in the United Kingdom. Sitting at that height, the client's comfortable reach envelope for a horizontal surface was measured at 480 mm to the left and 460 mm to the right of the centre line, with a comfortable forward reach of 400 mm before the shoulder starts to roll forward. This matters because if the organiser is deeper than about 200 mm the client has to lean over it to reach the keyboard, which was one of the complaints about the existing tidy that they borrowed from the design studio.</a:t>
            </a:r>
          </a:p>
          <a:p>
            <a:pPr>
              <a:spcAft>
                <a:spcPts val="800"/>
              </a:spcAft>
            </a:pPr>
            <a:r>
              <a:rPr sz="1200">
                <a:solidFill>
                  <a:srgbClr val="1F1F1F"/>
                </a:solidFill>
                <a:latin typeface="Calibri"/>
              </a:rPr>
              <a:t>The research also looked at the size of the items that needed to be stored. The client's phone is 147 mm long, 71 mm wide and 8 mm deep, and it is charged wirelessly, so the phone stand needs a flat pocket at least 80 mm wide and 12 mm deep to allow for a case. The tablet is 250 mm by 176 mm by 7 mm and is only used occasionally, so it was given a slot rather than a full stand. Pens and pencils used in the workshop are up to 190 mm long, which sets the minimum internal depth of the pen well at 200 mm including clearance.</a:t>
            </a:r>
          </a:p>
          <a:p>
            <a:pPr>
              <a:spcAft>
                <a:spcPts val="800"/>
              </a:spcAft>
            </a:pPr>
            <a:r>
              <a:rPr sz="1200">
                <a:solidFill>
                  <a:srgbClr val="1F1F1F"/>
                </a:solidFill>
                <a:latin typeface="Calibri"/>
              </a:rPr>
              <a:t>Ergonomics research from the course textbook suggests that the most frequently used items should be within a 300 mm radius of the dominant hand, so the phone pocket and the pen well were positioned on the right hand side of the organiser. The lesser used items, such as the glue stick, the steel rule and the calculator, were placed at the back and to the left. A 15 mm finger clearance was allowed around the pen well so that the client can lift items out without pinching their fingers, and this clearance was checked with the 1:1 card model before the cutting file was prepared.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Modelling and Testing</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600">
                <a:solidFill>
                  <a:srgbClr val="1F1F1F"/>
                </a:solidFill>
                <a:latin typeface="Calibri"/>
              </a:rPr>
              <a:t>Testing was carried out in five stages, and each stage was recorded against the specification.</a:t>
            </a:r>
          </a:p>
          <a:p>
            <a:pPr>
              <a:spcAft>
                <a:spcPts val="800"/>
              </a:spcAft>
            </a:pPr>
            <a:r>
              <a:rPr sz="1600">
                <a:solidFill>
                  <a:srgbClr val="1F1F1F"/>
                </a:solidFill>
                <a:latin typeface="Calibri"/>
              </a:rPr>
              <a:t>Stage 1, card model: a 1:1 model was cut from 2 mm greyboard to check the reach envelope. The client could reach the pen well and the phone without leaning forward. Result: pass.</a:t>
            </a:r>
          </a:p>
          <a:p>
            <a:pPr>
              <a:spcAft>
                <a:spcPts val="800"/>
              </a:spcAft>
            </a:pPr>
            <a:r>
              <a:rPr sz="1600">
                <a:solidFill>
                  <a:srgbClr val="1F1F1F"/>
                </a:solidFill>
                <a:latin typeface="Calibri"/>
              </a:rPr>
              <a:t>Stage 2, phone angle test: the phone was placed in the support at 45, 55, 62 and 70 degrees and photographed from the client's normal seated position. 62 degrees gave the least screen reflection. Result: 62 degrees adopted.</a:t>
            </a:r>
          </a:p>
          <a:p>
            <a:pPr>
              <a:spcAft>
                <a:spcPts val="800"/>
              </a:spcAft>
            </a:pPr>
            <a:r>
              <a:rPr sz="1600">
                <a:solidFill>
                  <a:srgbClr val="1F1F1F"/>
                </a:solidFill>
                <a:latin typeface="Calibri"/>
              </a:rPr>
              <a:t>Stage 3, stability test: a 1.5 kg mass was placed on the front edge of the model and the rear foot was checked for lift. The model lifted at 1.1 kg, so the base was widened by 30 mm and the test was repeated at 1.6 kg with no lift. Result: pass after modification.</a:t>
            </a:r>
          </a:p>
          <a:p>
            <a:pPr>
              <a:spcAft>
                <a:spcPts val="800"/>
              </a:spcAft>
            </a:pPr>
            <a:r>
              <a:rPr sz="1600">
                <a:solidFill>
                  <a:srgbClr val="1F1F1F"/>
                </a:solidFill>
                <a:latin typeface="Calibri"/>
              </a:rPr>
              <a:t>Stage 4, charging test: the client's 100 mm charging pad was slid into the open base and the phone was charged for 20 minutes. Charging started within three seconds and continued with the phone in place. Result: pass.</a:t>
            </a:r>
          </a:p>
          <a:p>
            <a:pPr>
              <a:spcAft>
                <a:spcPts val="800"/>
              </a:spcAft>
            </a:pPr>
            <a:r>
              <a:rPr sz="1600">
                <a:solidFill>
                  <a:srgbClr val="1F1F1F"/>
                </a:solidFill>
                <a:latin typeface="Calibri"/>
              </a:rPr>
              <a:t>Stage 5, finish test: two offcuts were finished with lacquer and one was left untreated, then both were wiped with a damp cloth 20 times. The untreated sample raised the grain. Result: lacquer specified for the final product.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600" b="1">
                <a:solidFill>
                  <a:srgbClr val="1F1F1F"/>
                </a:solidFill>
                <a:latin typeface="Calibri"/>
              </a:rPr>
              <a:t>Final Design: Modular Desk Organiser</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600">
                <a:solidFill>
                  <a:srgbClr val="1F1F1F"/>
                </a:solidFill>
                <a:latin typeface="Calibri"/>
              </a:rPr>
              <a:t>The final design is a single piece, laser cut from 12 mm beech ply, with an overall size of 255 mm wide x 195 mm deep x 175 mm high and a mass of 0.94 kg.</a:t>
            </a:r>
          </a:p>
          <a:p>
            <a:pPr>
              <a:spcAft>
                <a:spcPts val="800"/>
              </a:spcAft>
            </a:pPr>
            <a:r>
              <a:rPr sz="1600">
                <a:solidFill>
                  <a:srgbClr val="1F1F1F"/>
                </a:solidFill>
                <a:latin typeface="Calibri"/>
              </a:rPr>
              <a:t>The left hand side has an open pen well 90 mm wide x 85 mm deep that holds up to eight pens and pencils at an angle, with a 15 mm finger scoop at the front.</a:t>
            </a:r>
          </a:p>
          <a:p>
            <a:pPr>
              <a:spcAft>
                <a:spcPts val="800"/>
              </a:spcAft>
            </a:pPr>
            <a:r>
              <a:rPr sz="1600">
                <a:solidFill>
                  <a:srgbClr val="1F1F1F"/>
                </a:solidFill>
                <a:latin typeface="Calibri"/>
              </a:rPr>
              <a:t>The centre has a 62 degree phone support with a 6 mm retaining lip; the frame below is open so that the client's 100 mm wireless charging pad slides in from the rear.</a:t>
            </a:r>
          </a:p>
          <a:p>
            <a:pPr>
              <a:spcAft>
                <a:spcPts val="800"/>
              </a:spcAft>
            </a:pPr>
            <a:r>
              <a:rPr sz="1600">
                <a:solidFill>
                  <a:srgbClr val="1F1F1F"/>
                </a:solidFill>
                <a:latin typeface="Calibri"/>
              </a:rPr>
              <a:t>The right hand side has a 330 mm long channel for the steel rule and a 55 mm square compartment for the glue stick and the calculator.</a:t>
            </a:r>
          </a:p>
          <a:p>
            <a:pPr>
              <a:spcAft>
                <a:spcPts val="800"/>
              </a:spcAft>
            </a:pPr>
            <a:r>
              <a:rPr sz="1600">
                <a:solidFill>
                  <a:srgbClr val="1F1F1F"/>
                </a:solidFill>
                <a:latin typeface="Calibri"/>
              </a:rPr>
              <a:t>A rear foot 40 mm deep prevents the organiser tipping backwards, and all desk contact faces are lined with 1.5 mm cork.</a:t>
            </a:r>
          </a:p>
          <a:p>
            <a:pPr>
              <a:spcAft>
                <a:spcPts val="800"/>
              </a:spcAft>
            </a:pPr>
            <a:r>
              <a:rPr sz="1600">
                <a:solidFill>
                  <a:srgbClr val="1F1F1F"/>
                </a:solidFill>
                <a:latin typeface="Calibri"/>
              </a:rPr>
              <a:t>The whole product is assembled with 12 mm finger joints and waterproof PVA, then sanded to 240 grit and finished with three coats of clear water based lacquer.</a:t>
            </a:r>
          </a:p>
          <a:p>
            <a:pPr>
              <a:spcAft>
                <a:spcPts val="800"/>
              </a:spcAft>
            </a:pPr>
            <a:r>
              <a:rPr sz="1600">
                <a:solidFill>
                  <a:srgbClr val="1F1F1F"/>
                </a:solidFill>
                <a:latin typeface="Calibri"/>
              </a:rPr>
              <a:t>The cutting file fits on one 600 mm x 400 mm sheet of 12 mm beech ply with 11 per cent waste.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600" b="1">
                <a:solidFill>
                  <a:srgbClr val="1F1F1F"/>
                </a:solidFill>
                <a:latin typeface="Calibri"/>
              </a:rPr>
              <a:t>Final Design: Modular Desk Organiser</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600">
                <a:solidFill>
                  <a:srgbClr val="1F1F1F"/>
                </a:solidFill>
                <a:latin typeface="Calibri"/>
              </a:rPr>
              <a:t>The final design is a single piece, laser cut from 12 mm beech ply, with an overall size of 255 mm wide x 195 mm deep x 175 mm high and a mass of 0.94 kg.</a:t>
            </a:r>
          </a:p>
          <a:p>
            <a:pPr>
              <a:spcAft>
                <a:spcPts val="800"/>
              </a:spcAft>
            </a:pPr>
            <a:r>
              <a:rPr sz="1600">
                <a:solidFill>
                  <a:srgbClr val="1F1F1F"/>
                </a:solidFill>
                <a:latin typeface="Calibri"/>
              </a:rPr>
              <a:t>The left hand side has an open pen well 90 mm wide x 85 mm deep that holds up to eight pens and pencils at an angle, with a 15 mm finger scoop at the front.</a:t>
            </a:r>
          </a:p>
          <a:p>
            <a:pPr>
              <a:spcAft>
                <a:spcPts val="800"/>
              </a:spcAft>
            </a:pPr>
            <a:r>
              <a:rPr sz="1600">
                <a:solidFill>
                  <a:srgbClr val="1F1F1F"/>
                </a:solidFill>
                <a:latin typeface="Calibri"/>
              </a:rPr>
              <a:t>The centre has a 62 degree phone support with a 6 mm retaining lip; the frame below is open so that the client's 100 mm wireless charging pad slides in from the rear.</a:t>
            </a:r>
          </a:p>
          <a:p>
            <a:pPr>
              <a:spcAft>
                <a:spcPts val="800"/>
              </a:spcAft>
            </a:pPr>
            <a:r>
              <a:rPr sz="1600">
                <a:solidFill>
                  <a:srgbClr val="1F1F1F"/>
                </a:solidFill>
                <a:latin typeface="Calibri"/>
              </a:rPr>
              <a:t>The right hand side has a 330 mm long channel for the steel rule and a 55 mm square compartment for the glue stick and the calculator.</a:t>
            </a:r>
          </a:p>
          <a:p>
            <a:pPr>
              <a:spcAft>
                <a:spcPts val="800"/>
              </a:spcAft>
            </a:pPr>
            <a:r>
              <a:rPr sz="1600">
                <a:solidFill>
                  <a:srgbClr val="1F1F1F"/>
                </a:solidFill>
                <a:latin typeface="Calibri"/>
              </a:rPr>
              <a:t>A rear foot 40 mm deep prevents the organiser tipping backwards, and all desk contact faces are lined with 1.5 mm cork.</a:t>
            </a:r>
          </a:p>
          <a:p>
            <a:pPr>
              <a:spcAft>
                <a:spcPts val="800"/>
              </a:spcAft>
            </a:pPr>
            <a:r>
              <a:rPr sz="1600">
                <a:solidFill>
                  <a:srgbClr val="1F1F1F"/>
                </a:solidFill>
                <a:latin typeface="Calibri"/>
              </a:rPr>
              <a:t>The whole product is assembled with 12 mm finger joints and waterproof PVA, then sanded to 240 grit and finished with three coats of clear water based lacquer.</a:t>
            </a:r>
          </a:p>
          <a:p>
            <a:pPr>
              <a:spcAft>
                <a:spcPts val="800"/>
              </a:spcAft>
            </a:pPr>
            <a:r>
              <a:rPr sz="1600">
                <a:solidFill>
                  <a:srgbClr val="1F1F1F"/>
                </a:solidFill>
                <a:latin typeface="Calibri"/>
              </a:rPr>
              <a:t>The cutting file fits on one 600 mm x 400 mm sheet of 12 mm beech ply with 11 per cent waste.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48640"/>
            <a:ext cx="14173200" cy="9509760"/>
          </a:xfrm>
          <a:prstGeom prst="rect">
            <a:avLst/>
          </a:prstGeom>
          <a:noFill/>
        </p:spPr>
        <p:txBody>
          <a:bodyPr wrap="square">
            <a:spAutoFit/>
          </a:bodyPr>
          <a:lstStyle/>
          <a:p>
            <a:pPr>
              <a:spcAft>
                <a:spcPts val="800"/>
              </a:spcAft>
            </a:pPr>
            <a:r>
              <a:rPr sz="1600">
                <a:solidFill>
                  <a:srgbClr val="1F1F1F"/>
                </a:solidFill>
                <a:latin typeface="Calibri"/>
              </a:rPr>
              <a:t>Evidence of manufacture. Photographs were taken at each stage and stored in the portfolio folder.</a:t>
            </a:r>
          </a:p>
          <a:p>
            <a:pPr>
              <a:spcAft>
                <a:spcPts val="800"/>
              </a:spcAft>
            </a:pPr>
            <a:r>
              <a:rPr sz="1600">
                <a:solidFill>
                  <a:srgbClr val="1F1F1F"/>
                </a:solidFill>
                <a:latin typeface="Calibri"/>
              </a:rPr>
              <a:t>Lesson 1: the cutting file was prepared in 2D Design and checked for a 3 mm kerf allowance. A test joint was cut in scrap ply and measured at 12.3 mm, so the file was adjusted by 0.3 mm.</a:t>
            </a:r>
          </a:p>
          <a:p>
            <a:pPr>
              <a:spcAft>
                <a:spcPts val="800"/>
              </a:spcAft>
            </a:pPr>
            <a:r>
              <a:rPr sz="1600">
                <a:solidFill>
                  <a:srgbClr val="1F1F1F"/>
                </a:solidFill>
                <a:latin typeface="Calibri"/>
              </a:rPr>
              <a:t>Lesson 2: the sheet was masked with transfer tape to reduce scorch marks and cut on the laser cutter at 65 per cent power and 12 mm per second. Total cutting time was 14 minutes.</a:t>
            </a:r>
          </a:p>
          <a:p>
            <a:pPr>
              <a:spcAft>
                <a:spcPts val="800"/>
              </a:spcAft>
            </a:pPr>
            <a:r>
              <a:rPr sz="1600">
                <a:solidFill>
                  <a:srgbClr val="1F1F1F"/>
                </a:solidFill>
                <a:latin typeface="Calibri"/>
              </a:rPr>
              <a:t>Lesson 3: all parts were dry fitted. Two fingers were tight and were eased with a needle file. Edges were sanded from 120 to 240 grit and the corners were rounded with a 3 mm radius file.</a:t>
            </a:r>
          </a:p>
          <a:p>
            <a:pPr>
              <a:spcAft>
                <a:spcPts val="800"/>
              </a:spcAft>
            </a:pPr>
            <a:r>
              <a:rPr sz="1600">
                <a:solidFill>
                  <a:srgbClr val="1F1F1F"/>
                </a:solidFill>
                <a:latin typeface="Calibri"/>
              </a:rPr>
              <a:t>Lesson 4: the joints were glued in two stages so that the frame could be checked for square while the glue was still open. A try square was used across the diagonals and the frame was clamped for 30 minutes.</a:t>
            </a:r>
          </a:p>
          <a:p>
            <a:pPr>
              <a:spcAft>
                <a:spcPts val="800"/>
              </a:spcAft>
            </a:pPr>
            <a:r>
              <a:rPr sz="1600">
                <a:solidFill>
                  <a:srgbClr val="1F1F1F"/>
                </a:solidFill>
                <a:latin typeface="Calibri"/>
              </a:rPr>
              <a:t>Lesson 5: the cork base was cut 2 mm oversize and trimmed flush with a scalpel. Three coats of lacquer were applied with a 20 minute flash off between coats.</a:t>
            </a:r>
          </a:p>
          <a:p>
            <a:pPr>
              <a:spcAft>
                <a:spcPts val="800"/>
              </a:spcAft>
            </a:pPr>
            <a:r>
              <a:rPr sz="1600">
                <a:solidFill>
                  <a:srgbClr val="1F1F1F"/>
                </a:solidFill>
                <a:latin typeface="Calibri"/>
              </a:rPr>
              <a:t>Problems during making: one finger joint on the phone support split when the clamp was over tightened, so that part was recut from the spare area of the sheet. The lacquer also bloomed on a cold morning, which was solved by moving the work into the finishing room.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2800" b="1">
                <a:solidFill>
                  <a:srgbClr val="1F1F1F"/>
                </a:solidFill>
                <a:latin typeface="Times New Roman"/>
              </a:rPr>
              <a:t>Manufacturing Plan</a:t>
            </a:r>
          </a:p>
        </p:txBody>
      </p:sp>
      <p:sp>
        <p:nvSpPr>
          <p:cNvPr id="3" name="TextBox 2"/>
          <p:cNvSpPr txBox="1"/>
          <p:nvPr/>
        </p:nvSpPr>
        <p:spPr>
          <a:xfrm>
            <a:off x="457200" y="1508760"/>
            <a:ext cx="7863840" cy="8595360"/>
          </a:xfrm>
          <a:prstGeom prst="rect">
            <a:avLst/>
          </a:prstGeom>
          <a:noFill/>
        </p:spPr>
        <p:txBody>
          <a:bodyPr wrap="square">
            <a:spAutoFit/>
          </a:bodyPr>
          <a:lstStyle/>
          <a:p>
            <a:pPr>
              <a:spcAft>
                <a:spcPts val="800"/>
              </a:spcAft>
            </a:pPr>
            <a:r>
              <a:rPr sz="1600">
                <a:solidFill>
                  <a:srgbClr val="1F1F1F"/>
                </a:solidFill>
                <a:latin typeface="Times New Roman"/>
              </a:rPr>
              <a:t>The manufacturing plan covers six one hour lessons plus finishing time, and lists each process, tool, quality check and safety point.</a:t>
            </a:r>
          </a:p>
          <a:p>
            <a:pPr>
              <a:spcAft>
                <a:spcPts val="800"/>
              </a:spcAft>
            </a:pPr>
            <a:r>
              <a:rPr sz="1600">
                <a:solidFill>
                  <a:srgbClr val="1F1F1F"/>
                </a:solidFill>
                <a:latin typeface="Times New Roman"/>
              </a:rPr>
              <a:t>Stage 1: prepare the cutting file, offset all joints by 0.15 mm per side for the kerf, and nest the parts on a 600 mm x 400 mm sheet. Quality check: dry run on screen, then a test cut of one joint.</a:t>
            </a:r>
          </a:p>
          <a:p>
            <a:pPr>
              <a:spcAft>
                <a:spcPts val="800"/>
              </a:spcAft>
            </a:pPr>
            <a:r>
              <a:rPr sz="1600">
                <a:solidFill>
                  <a:srgbClr val="1F1F1F"/>
                </a:solidFill>
                <a:latin typeface="Times New Roman"/>
              </a:rPr>
              <a:t>Stage 2: laser cut the sheet at 65 per cent power and 12 mm per second. Safety: extractor on, lid closed, no material left in the bed.</a:t>
            </a:r>
          </a:p>
          <a:p>
            <a:pPr>
              <a:spcAft>
                <a:spcPts val="800"/>
              </a:spcAft>
            </a:pPr>
            <a:r>
              <a:rPr sz="1600">
                <a:solidFill>
                  <a:srgbClr val="1F1F1F"/>
                </a:solidFill>
                <a:latin typeface="Times New Roman"/>
              </a:rPr>
              <a:t>Stage 3: dry fit and ease tight joints with a needle file. Quality check: joints push together by hand and hold without glue.</a:t>
            </a:r>
          </a:p>
          <a:p>
            <a:pPr>
              <a:spcAft>
                <a:spcPts val="800"/>
              </a:spcAft>
            </a:pPr>
            <a:r>
              <a:rPr sz="1600">
                <a:solidFill>
                  <a:srgbClr val="1F1F1F"/>
                </a:solidFill>
                <a:latin typeface="Times New Roman"/>
              </a:rPr>
              <a:t>Stage 4: sand all faces to 240 grit and radius all external edges. Quality check: run a finger along each edge, no catch permitted.</a:t>
            </a:r>
          </a:p>
          <a:p>
            <a:pPr>
              <a:spcAft>
                <a:spcPts val="800"/>
              </a:spcAft>
            </a:pPr>
            <a:r>
              <a:rPr sz="1600">
                <a:solidFill>
                  <a:srgbClr val="1F1F1F"/>
                </a:solidFill>
                <a:latin typeface="Times New Roman"/>
              </a:rPr>
              <a:t>Stage 5: glue in two stages using waterproof PVA, check diagonals with a try square, clamp for 30 minutes. Quality check: diagonals within 1 mm.</a:t>
            </a:r>
          </a:p>
          <a:p>
            <a:pPr>
              <a:spcAft>
                <a:spcPts val="800"/>
              </a:spcAft>
            </a:pPr>
            <a:r>
              <a:rPr sz="1600">
                <a:solidFill>
                  <a:srgbClr val="1F1F1F"/>
                </a:solidFill>
                <a:latin typeface="Times New Roman"/>
              </a:rPr>
              <a:t>Stage 6: cut and fit the 1.5 mm cork base, then apply three coats of clear water based lacquer. Quality check: no runs, no dry patches, no raised grain.</a:t>
            </a:r>
          </a:p>
          <a:p>
            <a:pPr>
              <a:spcAft>
                <a:spcPts val="800"/>
              </a:spcAft>
            </a:pPr>
            <a:r>
              <a:rPr sz="1600">
                <a:solidFill>
                  <a:srgbClr val="1F1F1F"/>
                </a:solidFill>
                <a:latin typeface="Times New Roman"/>
              </a:rPr>
              <a:t>Jigs and formers: one 90 degree gluing jig made from 18 mm MDF offcuts and two 12 mm spacer blocks for the phone support angle. Estimated total time: 5 hours 40 minutes, which is inside the ten week project window.</a:t>
            </a:r>
          </a:p>
        </p:txBody>
      </p:sp>
      <p:pic>
        <p:nvPicPr>
          <p:cNvPr id="4" name="Picture 3" descr="cutting_plan_48x36.png"/>
          <p:cNvPicPr>
            <a:picLocks noChangeAspect="1"/>
          </p:cNvPicPr>
          <p:nvPr/>
        </p:nvPicPr>
        <p:blipFill>
          <a:blip r:embed="rId2"/>
          <a:stretch>
            <a:fillRect/>
          </a:stretch>
        </p:blipFill>
        <p:spPr>
          <a:xfrm>
            <a:off x="8686800" y="4389120"/>
            <a:ext cx="5029200" cy="3771900"/>
          </a:xfrm>
          <a:prstGeom prst="rect">
            <a:avLst/>
          </a:prstGeom>
        </p:spPr>
      </p:pic>
      <p:sp>
        <p:nvSpPr>
          <p:cNvPr id="5" name="TextBox 4"/>
          <p:cNvSpPr txBox="1"/>
          <p:nvPr/>
        </p:nvSpPr>
        <p:spPr>
          <a:xfrm>
            <a:off x="8686800" y="8275320"/>
            <a:ext cx="5029200" cy="548640"/>
          </a:xfrm>
          <a:prstGeom prst="rect">
            <a:avLst/>
          </a:prstGeom>
          <a:noFill/>
        </p:spPr>
        <p:txBody>
          <a:bodyPr wrap="square">
            <a:spAutoFit/>
          </a:bodyPr>
          <a:lstStyle/>
          <a:p>
            <a:r>
              <a:rPr sz="1200" i="1">
                <a:solidFill>
                  <a:srgbClr val="1F1F1F"/>
                </a:solidFill>
                <a:latin typeface="Times New Roman"/>
              </a:rPr>
              <a:t>Figure 3: Cutting plan for the 12 mm beech ply sheet, showing the nesting of the six main parts with 11 per cent waste.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Testing and Evaluation Against the Specification</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600"/>
              </a:spcAft>
            </a:pPr>
            <a:r>
              <a:rPr sz="1600">
                <a:solidFill>
                  <a:srgbClr val="1F1F1F"/>
                </a:solidFill>
                <a:latin typeface="Calibri"/>
              </a:rPr>
              <a:t>Point 1, footprint: measured at 255 mm x 195 mm x 175 mm. Met.</a:t>
            </a:r>
          </a:p>
          <a:p>
            <a:pPr>
              <a:spcAft>
                <a:spcPts val="600"/>
              </a:spcAft>
            </a:pPr>
            <a:r>
              <a:rPr sz="1600">
                <a:solidFill>
                  <a:srgbClr val="1F1F1F"/>
                </a:solidFill>
                <a:latin typeface="Calibri"/>
              </a:rPr>
              <a:t>Point 2, pen storage: eight pens held upright with 15 mm finger clearance. Met.</a:t>
            </a:r>
          </a:p>
          <a:p>
            <a:pPr>
              <a:spcAft>
                <a:spcPts val="600"/>
              </a:spcAft>
            </a:pPr>
            <a:r>
              <a:rPr sz="1600">
                <a:solidFill>
                  <a:srgbClr val="1F1F1F"/>
                </a:solidFill>
                <a:latin typeface="Calibri"/>
              </a:rPr>
              <a:t>Point 3, phone support: phone held at 62 degrees, within the 55 to 70 degree range. Met.</a:t>
            </a:r>
          </a:p>
          <a:p>
            <a:pPr>
              <a:spcAft>
                <a:spcPts val="600"/>
              </a:spcAft>
            </a:pPr>
            <a:r>
              <a:rPr sz="1600">
                <a:solidFill>
                  <a:srgbClr val="1F1F1F"/>
                </a:solidFill>
                <a:latin typeface="Calibri"/>
              </a:rPr>
              <a:t>Point 4, open base for the charging pad: 115 mm x 115 mm opening, the pad fits and charging works. Met.</a:t>
            </a:r>
          </a:p>
          <a:p>
            <a:pPr>
              <a:spcAft>
                <a:spcPts val="600"/>
              </a:spcAft>
            </a:pPr>
            <a:r>
              <a:rPr sz="1600">
                <a:solidFill>
                  <a:srgbClr val="1F1F1F"/>
                </a:solidFill>
                <a:latin typeface="Calibri"/>
              </a:rPr>
              <a:t>Point 5, steel rule channel: 330 mm long, the rule sits below the top edge. Met.</a:t>
            </a:r>
          </a:p>
          <a:p>
            <a:pPr>
              <a:spcAft>
                <a:spcPts val="600"/>
              </a:spcAft>
            </a:pPr>
            <a:r>
              <a:rPr sz="1600">
                <a:solidFill>
                  <a:srgbClr val="1F1F1F"/>
                </a:solidFill>
                <a:latin typeface="Calibri"/>
              </a:rPr>
              <a:t>Point 6, desk protection: cork on all contact faces, no marks after a two week trial. Partly met.</a:t>
            </a:r>
          </a:p>
          <a:p>
            <a:pPr>
              <a:spcAft>
                <a:spcPts val="600"/>
              </a:spcAft>
            </a:pPr>
            <a:r>
              <a:rPr sz="1600">
                <a:solidFill>
                  <a:srgbClr val="1F1F1F"/>
                </a:solidFill>
                <a:latin typeface="Calibri"/>
              </a:rPr>
              <a:t>Point 7, edge radius: all external edges radiused with a 3 mm file, no sharp edges found by the client. Met.</a:t>
            </a:r>
          </a:p>
          <a:p>
            <a:pPr>
              <a:spcAft>
                <a:spcPts val="600"/>
              </a:spcAft>
            </a:pPr>
            <a:r>
              <a:rPr sz="1600">
                <a:solidFill>
                  <a:srgbClr val="1F1F1F"/>
                </a:solidFill>
                <a:latin typeface="Calibri"/>
              </a:rPr>
              <a:t>Point 8, mass: 0.94 kg on the workshop scale, inside the 1.2 kg limit. Met.</a:t>
            </a:r>
          </a:p>
          <a:p>
            <a:pPr>
              <a:spcAft>
                <a:spcPts val="600"/>
              </a:spcAft>
            </a:pPr>
            <a:r>
              <a:rPr sz="1600">
                <a:solidFill>
                  <a:srgbClr val="1F1F1F"/>
                </a:solidFill>
                <a:latin typeface="Calibri"/>
              </a:rPr>
              <a:t>Point 9, finish: three coats of clear lacquer, wiped with a damp cloth 20 times with no damage. Met.</a:t>
            </a:r>
          </a:p>
          <a:p>
            <a:pPr>
              <a:spcAft>
                <a:spcPts val="600"/>
              </a:spcAft>
            </a:pPr>
            <a:r>
              <a:rPr sz="1600">
                <a:solidFill>
                  <a:srgbClr val="1F1F1F"/>
                </a:solidFill>
                <a:latin typeface="Calibri"/>
              </a:rPr>
              <a:t>Point 10, manufacture: cut from one sheet of 12 mm beech ply on the school laser cutter. Met.</a:t>
            </a:r>
          </a:p>
          <a:p>
            <a:pPr>
              <a:spcAft>
                <a:spcPts val="600"/>
              </a:spcAft>
            </a:pPr>
            <a:r>
              <a:rPr sz="1600">
                <a:solidFill>
                  <a:srgbClr val="1F1F1F"/>
                </a:solidFill>
                <a:latin typeface="Calibri"/>
              </a:rPr>
              <a:t>Only point 6 is judged as partly met, because the cork base was stuck with contact adhesive rather than being replaceable, so it cannot easily be renewed if it wears out. All of the other points are fully met.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2800" b="1">
                <a:solidFill>
                  <a:srgbClr val="1F1F1F"/>
                </a:solidFill>
                <a:latin typeface="Calibri"/>
              </a:rPr>
              <a:t>Client Feedback Summary</a:t>
            </a:r>
          </a:p>
        </p:txBody>
      </p:sp>
      <p:sp>
        <p:nvSpPr>
          <p:cNvPr id="3" name="TextBox 2"/>
          <p:cNvSpPr txBox="1"/>
          <p:nvPr/>
        </p:nvSpPr>
        <p:spPr>
          <a:xfrm>
            <a:off x="457200" y="2194560"/>
            <a:ext cx="14173200" cy="8595360"/>
          </a:xfrm>
          <a:prstGeom prst="rect">
            <a:avLst/>
          </a:prstGeom>
          <a:noFill/>
        </p:spPr>
        <p:txBody>
          <a:bodyPr wrap="square">
            <a:spAutoFit/>
          </a:bodyPr>
          <a:lstStyle/>
          <a:p>
            <a:pPr>
              <a:spcAft>
                <a:spcPts val="800"/>
              </a:spcAft>
            </a:pPr>
            <a:r>
              <a:rPr sz="1800">
                <a:solidFill>
                  <a:srgbClr val="1F1F1F"/>
                </a:solidFill>
                <a:latin typeface="Calibri"/>
              </a:rPr>
              <a:t>Client very happy. Desk much tidier now.</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Improvements and Further Development</a:t>
            </a:r>
          </a:p>
        </p:txBody>
      </p:sp>
      <p:sp>
        <p:nvSpPr>
          <p:cNvPr id="3" name="TextBox 2"/>
          <p:cNvSpPr txBox="1"/>
          <p:nvPr/>
        </p:nvSpPr>
        <p:spPr>
          <a:xfrm>
            <a:off x="457200" y="2194560"/>
            <a:ext cx="14173200" cy="8595360"/>
          </a:xfrm>
          <a:prstGeom prst="rect">
            <a:avLst/>
          </a:prstGeom>
          <a:noFill/>
        </p:spPr>
        <p:txBody>
          <a:bodyPr wrap="square">
            <a:spAutoFit/>
          </a:bodyPr>
          <a:lstStyle/>
          <a:p>
            <a:pPr>
              <a:spcAft>
                <a:spcPts val="800"/>
              </a:spcAft>
            </a:pPr>
            <a:r>
              <a:rPr sz="1800">
                <a:solidFill>
                  <a:srgbClr val="1F1F1F"/>
                </a:solidFill>
                <a:latin typeface="Calibri"/>
              </a:rPr>
              <a:t>Widen drainage gap. Add cable tidy.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2400" b="1">
                <a:solidFill>
                  <a:srgbClr val="1F1F1F"/>
                </a:solidFill>
                <a:latin typeface="Times New Roman"/>
              </a:rPr>
              <a:t>Evaluation of Strengths and Weaknesses</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100">
                <a:solidFill>
                  <a:srgbClr val="1F1F1F"/>
                </a:solidFill>
                <a:latin typeface="Times New Roman"/>
              </a:rPr>
              <a:t>The finished organiser meets the brief, but the evaluation needs to separate the parts that worked well from the parts that only worked because of a late change. The strongest part of the design is the open base under the phone support. Because the frame was left open rather than panelled, the client's existing 100 mm charging pad could be slid in from behind without any modification to the product or to the pad. This was tested over two weeks and charging started within three seconds every time. The second strength is the finger jointed construction. No screws, nails or knock down fittings were used, which meant there was nothing to work loose in a rucksack, and the joint strength was greater than the strength of the plywood itself when a scrap joint was broken in the vice.</a:t>
            </a:r>
          </a:p>
          <a:p>
            <a:pPr>
              <a:spcAft>
                <a:spcPts val="800"/>
              </a:spcAft>
            </a:pPr>
            <a:r>
              <a:rPr sz="1100">
                <a:solidFill>
                  <a:srgbClr val="1F1F1F"/>
                </a:solidFill>
                <a:latin typeface="Times New Roman"/>
              </a:rPr>
              <a:t>The weakest part of the design is the pen well. In the final product the well is 85 mm deep, which is 15 mm deeper than the first model, and this stopped the organiser tipping forward when the steel rule was placed in the front slot. However, the 6 mm drainage gap at the bottom of the well is too narrow. Pencil sharpenings and eraser dust bridge across the gap and have to be shaken out through the top, which the client found annoying. A second weakness is that the glue stick compartment at the rear is difficult to reach when the organiser is pushed back against the raised edge of the desk, and the client has started to keep the glue stick loose in the pen well instead.</a:t>
            </a:r>
          </a:p>
          <a:p>
            <a:pPr>
              <a:spcAft>
                <a:spcPts val="800"/>
              </a:spcAft>
            </a:pPr>
            <a:r>
              <a:rPr sz="1100">
                <a:solidFill>
                  <a:srgbClr val="1F1F1F"/>
                </a:solidFill>
                <a:latin typeface="Times New Roman"/>
              </a:rPr>
              <a:t>If the project were repeated, three changes would be made. The drainage gap would be widened to 10 mm and a removable plug fitted so that the well can be emptied without turning the product upside down. The cork base would be held with hook and loop tape rather than contact adhesive so that it can be replaced when it wears out. Finally, the phone support would be made 12 mm wider so that a tablet up to 8 inches could be charged in the same position. None of these changes would alter the overall size or the manufacturing plan, and all three could be made by editing the same cutting file.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600" b="1">
                <a:solidFill>
                  <a:srgbClr val="1F1F1F"/>
                </a:solidFill>
                <a:latin typeface="Arial"/>
              </a:rPr>
              <a:t>Health, Safety and Risk Assessment</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400">
                <a:solidFill>
                  <a:srgbClr val="1F1F1F"/>
                </a:solidFill>
                <a:latin typeface="Arial"/>
              </a:rPr>
              <a:t>The risk assessment was completed before any practical work started and was checked by the workshop technician.</a:t>
            </a:r>
          </a:p>
          <a:p>
            <a:pPr>
              <a:spcAft>
                <a:spcPts val="800"/>
              </a:spcAft>
            </a:pPr>
            <a:r>
              <a:rPr sz="1400">
                <a:solidFill>
                  <a:srgbClr val="1F1F1F"/>
                </a:solidFill>
                <a:latin typeface="Arial"/>
              </a:rPr>
              <a:t>Hazard 1: laser cutter. Risk of fire and of eye damage from the beam. Control: the lid is interlocked, the extractor is switched on before cutting, the bed is never left unattended and a CO2 extinguisher is within two metres. Risk rating after control: low.</a:t>
            </a:r>
          </a:p>
          <a:p>
            <a:pPr>
              <a:spcAft>
                <a:spcPts val="800"/>
              </a:spcAft>
            </a:pPr>
            <a:r>
              <a:rPr sz="1400">
                <a:solidFill>
                  <a:srgbClr val="1F1F1F"/>
                </a:solidFill>
                <a:latin typeface="Arial"/>
              </a:rPr>
              <a:t>Hazard 2: dust from sanding plywood and MDF. Risk of respiratory irritation. Control: dust extraction on the belt sander, a face mask when hand sanding, and a no sweeping rule, so surfaces are wiped with a damp cloth. Risk rating after control: low.</a:t>
            </a:r>
          </a:p>
          <a:p>
            <a:pPr>
              <a:spcAft>
                <a:spcPts val="800"/>
              </a:spcAft>
            </a:pPr>
            <a:r>
              <a:rPr sz="1400">
                <a:solidFill>
                  <a:srgbClr val="1F1F1F"/>
                </a:solidFill>
                <a:latin typeface="Arial"/>
              </a:rPr>
              <a:t>Hazard 3: contact adhesive used for the cork base. Risk of solvent inhalation and skin irritation. Control: used in the open doorway with the extractor fan running, gloves worn and the lid replaced immediately. Risk rating after control: medium, so the adhesive was changed to a water based contact adhesive for the second unit.</a:t>
            </a:r>
          </a:p>
          <a:p>
            <a:pPr>
              <a:spcAft>
                <a:spcPts val="800"/>
              </a:spcAft>
            </a:pPr>
            <a:r>
              <a:rPr sz="1400">
                <a:solidFill>
                  <a:srgbClr val="1F1F1F"/>
                </a:solidFill>
                <a:latin typeface="Arial"/>
              </a:rPr>
              <a:t>Hazard 4: sharp edges and scalpel use. Risk of cuts. Control: edges are radiused as soon as parts come off the laser, cut resistant gloves are used for trimming the cork, and scalpels are used away from the body on a cutting mat. Risk rating after control: low.</a:t>
            </a:r>
          </a:p>
          <a:p>
            <a:pPr>
              <a:spcAft>
                <a:spcPts val="800"/>
              </a:spcAft>
            </a:pPr>
            <a:r>
              <a:rPr sz="1400">
                <a:solidFill>
                  <a:srgbClr val="1F1F1F"/>
                </a:solidFill>
                <a:latin typeface="Arial"/>
              </a:rPr>
              <a:t>Hazard 5: workshop movement with hot glue and clamps. Risk of burns and of trips. Control: the hot glue gun sits on a heat proof mat, clamps are returned to the rack and bags are stored under the benches. Risk rating after control: low.</a:t>
            </a:r>
          </a:p>
          <a:p>
            <a:pPr>
              <a:spcAft>
                <a:spcPts val="800"/>
              </a:spcAft>
            </a:pPr>
            <a:r>
              <a:rPr sz="1400">
                <a:solidFill>
                  <a:srgbClr val="1F1F1F"/>
                </a:solidFill>
                <a:latin typeface="Arial"/>
              </a:rPr>
              <a:t>All control measures were followed during making and no accidents or near misses were recorded. The risk assessment was reviewed again before the second gluing stage because a different adhesive was used.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2800" b="1">
                <a:solidFill>
                  <a:srgbClr val="1F1F1F"/>
                </a:solidFill>
                <a:latin typeface="Calibri"/>
              </a:rPr>
              <a:t>Project Timeline and Review Points</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600"/>
              </a:spcAft>
            </a:pPr>
            <a:r>
              <a:rPr sz="1600">
                <a:solidFill>
                  <a:srgbClr val="1F1F1F"/>
                </a:solidFill>
                <a:latin typeface="Calibri"/>
              </a:rPr>
              <a:t>Section 1: context and client brief (week 1) and research plan (week 2).</a:t>
            </a:r>
          </a:p>
          <a:p>
            <a:pPr>
              <a:spcAft>
                <a:spcPts val="600"/>
              </a:spcAft>
            </a:pPr>
            <a:r>
              <a:rPr sz="1600">
                <a:solidFill>
                  <a:srgbClr val="1F1F1F"/>
                </a:solidFill>
                <a:latin typeface="Calibri"/>
              </a:rPr>
              <a:t>Section 2: existing product research and client interview (weeks 2 and 3).</a:t>
            </a:r>
          </a:p>
          <a:p>
            <a:pPr>
              <a:spcAft>
                <a:spcPts val="600"/>
              </a:spcAft>
            </a:pPr>
            <a:r>
              <a:rPr sz="1600">
                <a:solidFill>
                  <a:srgbClr val="1F1F1F"/>
                </a:solidFill>
                <a:latin typeface="Calibri"/>
              </a:rPr>
              <a:t>Section 3: design specification written and agreed with the client (week 3).</a:t>
            </a:r>
          </a:p>
          <a:p>
            <a:pPr>
              <a:spcAft>
                <a:spcPts val="600"/>
              </a:spcAft>
            </a:pPr>
            <a:r>
              <a:rPr sz="1600">
                <a:solidFill>
                  <a:srgbClr val="1F1F1F"/>
                </a:solidFill>
                <a:latin typeface="Calibri"/>
              </a:rPr>
              <a:t>Section 4: initial ideas sketched and annotated (week 4).</a:t>
            </a:r>
          </a:p>
          <a:p>
            <a:pPr>
              <a:spcAft>
                <a:spcPts val="600"/>
              </a:spcAft>
            </a:pPr>
            <a:r>
              <a:rPr sz="1600">
                <a:solidFill>
                  <a:srgbClr val="1F1F1F"/>
                </a:solidFill>
                <a:latin typeface="Calibri"/>
              </a:rPr>
              <a:t>Section 5: design development, card modelling and phone angle testing (weeks 5 and 6).</a:t>
            </a:r>
          </a:p>
          <a:p>
            <a:pPr>
              <a:spcAft>
                <a:spcPts val="600"/>
              </a:spcAft>
            </a:pPr>
            <a:r>
              <a:rPr sz="1600">
                <a:solidFill>
                  <a:srgbClr val="1F1F1F"/>
                </a:solidFill>
                <a:latin typeface="Calibri"/>
              </a:rPr>
              <a:t>Section 6: final design drawings and cutting file preparation (week 6).</a:t>
            </a:r>
          </a:p>
          <a:p>
            <a:pPr>
              <a:spcAft>
                <a:spcPts val="600"/>
              </a:spcAft>
            </a:pPr>
            <a:r>
              <a:rPr sz="1600">
                <a:solidFill>
                  <a:srgbClr val="1F1F1F"/>
                </a:solidFill>
                <a:latin typeface="Calibri"/>
              </a:rPr>
              <a:t>Section 7: manufacturing plan and risk assessment (week 7).</a:t>
            </a:r>
          </a:p>
          <a:p>
            <a:pPr>
              <a:spcAft>
                <a:spcPts val="600"/>
              </a:spcAft>
            </a:pPr>
            <a:r>
              <a:rPr sz="1600">
                <a:solidFill>
                  <a:srgbClr val="1F1F1F"/>
                </a:solidFill>
                <a:latin typeface="Calibri"/>
              </a:rPr>
              <a:t>Section 8: making, six lessons plus finishing (weeks 7 and 8).</a:t>
            </a:r>
          </a:p>
          <a:p>
            <a:pPr>
              <a:spcAft>
                <a:spcPts val="600"/>
              </a:spcAft>
            </a:pPr>
            <a:r>
              <a:rPr sz="1600">
                <a:solidFill>
                  <a:srgbClr val="1F1F1F"/>
                </a:solidFill>
                <a:latin typeface="Calibri"/>
              </a:rPr>
              <a:t>Section 9: testing against the specification and the client trial (week 9).</a:t>
            </a:r>
          </a:p>
          <a:p>
            <a:pPr>
              <a:spcAft>
                <a:spcPts val="600"/>
              </a:spcAft>
            </a:pPr>
            <a:r>
              <a:rPr sz="1600">
                <a:solidFill>
                  <a:srgbClr val="1F1F1F"/>
                </a:solidFill>
                <a:latin typeface="Calibri"/>
              </a:rPr>
              <a:t>Section 10: evaluation, improvements and further development (week 10).</a:t>
            </a:r>
          </a:p>
          <a:p>
            <a:pPr>
              <a:spcAft>
                <a:spcPts val="600"/>
              </a:spcAft>
            </a:pPr>
            <a:r>
              <a:rPr sz="1600">
                <a:solidFill>
                  <a:srgbClr val="1F1F1F"/>
                </a:solidFill>
                <a:latin typeface="Calibri"/>
              </a:rPr>
              <a:t>Review points: the client reviewed the work at the end of week 4, week 6 and week 9. The week 6 review led to the pen well being deepened from 70 mm to 85 mm. The week 9 review led to the drainage gap being recorded as an improvement for future development.</a:t>
            </a:r>
          </a:p>
          <a:p>
            <a:pPr>
              <a:spcAft>
                <a:spcPts val="600"/>
              </a:spcAft>
            </a:pPr>
            <a:r>
              <a:rPr sz="1600">
                <a:solidFill>
                  <a:srgbClr val="1F1F1F"/>
                </a:solidFill>
                <a:latin typeface="Calibri"/>
              </a:rPr>
              <a:t>Timekeeping: the project finished half a lesson behind schedule because one part had to be recut after a joint split, and the missed time was made up in a lunchtime session, so the deadline was still acheived.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548640"/>
            <a:ext cx="14173200" cy="9509760"/>
          </a:xfrm>
          <a:prstGeom prst="rect">
            <a:avLst/>
          </a:prstGeom>
          <a:noFill/>
        </p:spPr>
        <p:txBody>
          <a:bodyPr wrap="square">
            <a:spAutoFit/>
          </a:bodyPr>
          <a:lstStyle/>
          <a:p>
            <a:pPr>
              <a:spcAft>
                <a:spcPts val="800"/>
              </a:spcAft>
            </a:pPr>
            <a:r>
              <a:rPr sz="1600">
                <a:solidFill>
                  <a:srgbClr val="1F1F1F"/>
                </a:solidFill>
                <a:latin typeface="Calibri"/>
              </a:rPr>
              <a:t>Sustainability and environmental impact. The main material is 12 mm beech ply, which is a timber based sheet material. The supplier states that the veneers come from FSC certified forests and that the adhesive is a low formaldehyde exterior grade glue, so the sheet can be considered a renewable material provided it is not sent to landfill.</a:t>
            </a:r>
          </a:p>
          <a:p>
            <a:pPr>
              <a:spcAft>
                <a:spcPts val="800"/>
              </a:spcAft>
            </a:pPr>
            <a:r>
              <a:rPr sz="1600">
                <a:solidFill>
                  <a:srgbClr val="1F1F1F"/>
                </a:solidFill>
                <a:latin typeface="Calibri"/>
              </a:rPr>
              <a:t>The product can be repaired in one sense but not in another. It cannot be taken apart without damaging it, because the finger joints are permanently glued. This means the plywood cannot easily be separated for reuse, but it also means the product is unlikely to fail and be thrown away, which extends its working life. Over a five year life the product carries a phone, pens and a rule that would otherwise be loose on the desk, and it replaces a plastic tidy that the client had already broken.</a:t>
            </a:r>
          </a:p>
          <a:p>
            <a:pPr>
              <a:spcAft>
                <a:spcPts val="800"/>
              </a:spcAft>
            </a:pPr>
            <a:r>
              <a:rPr sz="1600">
                <a:solidFill>
                  <a:srgbClr val="1F1F1F"/>
                </a:solidFill>
                <a:latin typeface="Calibri"/>
              </a:rPr>
              <a:t>Waste: the cutting plan used 89 per cent of the sheet and the offcuts were kept for jigs and for test joints, so very little material went to landfill. Offcuts smaller than 40 mm were used as glue spreaders and then discarded.</a:t>
            </a:r>
          </a:p>
          <a:p>
            <a:pPr>
              <a:spcAft>
                <a:spcPts val="800"/>
              </a:spcAft>
            </a:pPr>
            <a:r>
              <a:rPr sz="1600">
                <a:solidFill>
                  <a:srgbClr val="1F1F1F"/>
                </a:solidFill>
                <a:latin typeface="Calibri"/>
              </a:rPr>
              <a:t>Finishes: the lacquer is water based and has a low VOC content compared with a solvent based lacquer. The cork base is a natural material and is biodegradable. The transfer tape used to mask the sheet is paper based and was recycled.</a:t>
            </a:r>
          </a:p>
          <a:p>
            <a:pPr>
              <a:spcAft>
                <a:spcPts val="800"/>
              </a:spcAft>
            </a:pPr>
            <a:r>
              <a:rPr sz="1600">
                <a:solidFill>
                  <a:srgbClr val="1F1F1F"/>
                </a:solidFill>
                <a:latin typeface="Calibri"/>
              </a:rPr>
              <a:t>Energy: laser cutting used about 14 minutes of machine time, which is lower than the estimated 90 minutes of hand cutting that the same parts would need, so the overall energy use for manufacture is lower even though the laser is a powerful machine.</a:t>
            </a:r>
          </a:p>
          <a:p>
            <a:pPr>
              <a:spcAft>
                <a:spcPts val="800"/>
              </a:spcAft>
            </a:pPr>
            <a:r>
              <a:rPr sz="1600">
                <a:solidFill>
                  <a:srgbClr val="1F1F1F"/>
                </a:solidFill>
                <a:latin typeface="Calibri"/>
              </a:rPr>
              <a:t>Improvements for sustainability: the product could be redesigned with knock down fixings so that it can be repaired, and the cork could be replaced with a felt made from recycled plastic bottles. A full life cycle analysis was not carried out because the class did not have access to the software, so these conclusions are based on the material data sheets alone.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Commercial Manufacture and Scale of Production</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600">
                <a:solidFill>
                  <a:srgbClr val="1F1F1F"/>
                </a:solidFill>
                <a:latin typeface="Calibri"/>
              </a:rPr>
              <a:t>If the organiser were made in batches rather than as a one off, the process would change in four ways.</a:t>
            </a:r>
          </a:p>
          <a:p>
            <a:pPr>
              <a:spcAft>
                <a:spcPts val="800"/>
              </a:spcAft>
            </a:pPr>
            <a:r>
              <a:rPr sz="1600">
                <a:solidFill>
                  <a:srgbClr val="1F1F1F"/>
                </a:solidFill>
                <a:latin typeface="Calibri"/>
              </a:rPr>
              <a:t>First, the cutting file would be nested to make six units per 1,220 mm x 2,440 mm sheet of 12 mm beech ply, which reduces the material cost per unit from 14.60 pounds to about 9.80 pounds.</a:t>
            </a:r>
          </a:p>
          <a:p>
            <a:pPr>
              <a:spcAft>
                <a:spcPts val="800"/>
              </a:spcAft>
            </a:pPr>
            <a:r>
              <a:rPr sz="1600">
                <a:solidFill>
                  <a:srgbClr val="1F1F1F"/>
                </a:solidFill>
                <a:latin typeface="Calibri"/>
              </a:rPr>
              <a:t>Second, the laser cutter would be replaced by a CNC router for the batch, because a 60 W laser takes 14 minutes per unit and a router with a 6 mm cutter would take about 4 minutes per unit once the toolpath is set.</a:t>
            </a:r>
          </a:p>
          <a:p>
            <a:pPr>
              <a:spcAft>
                <a:spcPts val="800"/>
              </a:spcAft>
            </a:pPr>
            <a:r>
              <a:rPr sz="1600">
                <a:solidFill>
                  <a:srgbClr val="1F1F1F"/>
                </a:solidFill>
                <a:latin typeface="Calibri"/>
              </a:rPr>
              <a:t>Third, the plywood gluing jig would be replaced with an aluminium jig so that it does not wear out, and assembly would be split into two seperate stations so that one person fits and one person glues.</a:t>
            </a:r>
          </a:p>
          <a:p>
            <a:pPr>
              <a:spcAft>
                <a:spcPts val="800"/>
              </a:spcAft>
            </a:pPr>
            <a:r>
              <a:rPr sz="1600">
                <a:solidFill>
                  <a:srgbClr val="1F1F1F"/>
                </a:solidFill>
                <a:latin typeface="Calibri"/>
              </a:rPr>
              <a:t>Fourth, the lacquer would be sprayed rather than brushed, which gives a more even finish and cuts the finishing time from 45 minutes to about 12 minutes per unit.</a:t>
            </a:r>
          </a:p>
          <a:p>
            <a:pPr>
              <a:spcAft>
                <a:spcPts val="800"/>
              </a:spcAft>
            </a:pPr>
            <a:r>
              <a:rPr sz="1600">
                <a:solidFill>
                  <a:srgbClr val="1F1F1F"/>
                </a:solidFill>
                <a:latin typeface="Calibri"/>
              </a:rPr>
              <a:t>Scale of production: at 50 units per week the process would be small batch production. At 5,000 units per week the product would move to injection moulded recycled polypropylene with a timber effect finish, which would reduce the unit cost to under 3 pounds, but would remove the visible finger joints that the client liked.</a:t>
            </a:r>
          </a:p>
          <a:p>
            <a:pPr>
              <a:spcAft>
                <a:spcPts val="800"/>
              </a:spcAft>
            </a:pPr>
            <a:r>
              <a:rPr sz="1600">
                <a:solidFill>
                  <a:srgbClr val="1F1F1F"/>
                </a:solidFill>
                <a:latin typeface="Calibri"/>
              </a:rPr>
              <a:t>A plywood product cannot realistically compete with injection moulding on cost, so the commercial version would be sold on the basis of the natural material, the repairability and the fact that it is made in the United Kingdom rather than shipped.</a:t>
            </a:r>
          </a:p>
          <a:p>
            <a:pPr>
              <a:spcAft>
                <a:spcPts val="800"/>
              </a:spcAft>
            </a:pPr>
            <a:r>
              <a:rPr sz="1600">
                <a:solidFill>
                  <a:srgbClr val="1F1F1F"/>
                </a:solidFill>
                <a:latin typeface="Calibri"/>
              </a:rPr>
              <a:t>Quality control in a batch would use a go and no go gauge for the phone slot and the pen well, and one unit in every fifty would be checked for joint strength by loading the phone support with 1.5 kg.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Client Sign-Off and Final Review</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600">
                <a:solidFill>
                  <a:srgbClr val="1F1F1F"/>
                </a:solidFill>
                <a:latin typeface="Calibri"/>
              </a:rPr>
              <a:t>The client was shown the finished organiser on 6 February and was asked to comment against the original brief.</a:t>
            </a:r>
          </a:p>
          <a:p>
            <a:pPr>
              <a:spcAft>
                <a:spcPts val="800"/>
              </a:spcAft>
            </a:pPr>
            <a:r>
              <a:rPr sz="1600">
                <a:solidFill>
                  <a:srgbClr val="1F1F1F"/>
                </a:solidFill>
                <a:latin typeface="Calibri"/>
              </a:rPr>
              <a:t>Client comment 1: the desk is much easier to work at, and the phone screen can be seen while it charges.</a:t>
            </a:r>
          </a:p>
          <a:p>
            <a:pPr>
              <a:spcAft>
                <a:spcPts val="800"/>
              </a:spcAft>
            </a:pPr>
            <a:r>
              <a:rPr sz="1600">
                <a:solidFill>
                  <a:srgbClr val="1F1F1F"/>
                </a:solidFill>
                <a:latin typeface="Calibri"/>
              </a:rPr>
              <a:t>Client comment 2: the pen well is good, but the sharpenings get stuck at the bottom.</a:t>
            </a:r>
          </a:p>
          <a:p>
            <a:pPr>
              <a:spcAft>
                <a:spcPts val="800"/>
              </a:spcAft>
            </a:pPr>
            <a:r>
              <a:rPr sz="1600">
                <a:solidFill>
                  <a:srgbClr val="1F1F1F"/>
                </a:solidFill>
                <a:latin typeface="Calibri"/>
              </a:rPr>
              <a:t>Client comment 3: it would be better if the same product were wider so that a tablet would fit.</a:t>
            </a:r>
          </a:p>
          <a:p>
            <a:pPr>
              <a:spcAft>
                <a:spcPts val="800"/>
              </a:spcAft>
            </a:pPr>
            <a:r>
              <a:rPr sz="1600">
                <a:solidFill>
                  <a:srgbClr val="1F1F1F"/>
                </a:solidFill>
                <a:latin typeface="Calibri"/>
              </a:rPr>
              <a:t>Client verdict: the client signed off the product as fit for purpose and confirmed that the storage and the charging requirements had been met. The drainage issue was recorded as an improvement rather than a fault, because it does not stop the product working.</a:t>
            </a:r>
          </a:p>
          <a:p>
            <a:pPr>
              <a:spcAft>
                <a:spcPts val="800"/>
              </a:spcAft>
            </a:pPr>
            <a:r>
              <a:rPr sz="1600">
                <a:solidFill>
                  <a:srgbClr val="1F1F1F"/>
                </a:solidFill>
                <a:latin typeface="Calibri"/>
              </a:rPr>
              <a:t>Teacher feedback: the joints were cut accurately and the finish was consistent, but the portfolio would be stronger if the evaluation used more measured data rather than the client's opinions alone.</a:t>
            </a:r>
          </a:p>
          <a:p>
            <a:pPr>
              <a:spcAft>
                <a:spcPts val="800"/>
              </a:spcAft>
            </a:pPr>
            <a:r>
              <a:rPr sz="1600">
                <a:solidFill>
                  <a:srgbClr val="1F1F1F"/>
                </a:solidFill>
                <a:latin typeface="Calibri"/>
              </a:rPr>
              <a:t>Final review against the brief: the organiser fits the 260 mm x 200 mm space, holds all nine items that were on the desk, holds the phone at 62 degrees and allows wireless charging, has a mass of 0.94 kg and cost 17.00 pounds in materials, which is inside the 18 pound budget.</a:t>
            </a:r>
          </a:p>
          <a:p>
            <a:pPr>
              <a:spcAft>
                <a:spcPts val="800"/>
              </a:spcAft>
            </a:pPr>
            <a:r>
              <a:rPr sz="1600">
                <a:solidFill>
                  <a:srgbClr val="1F1F1F"/>
                </a:solidFill>
                <a:latin typeface="Calibri"/>
              </a:rPr>
              <a:t>Signed off by the client and by the teacher on 6 February.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65760"/>
            <a:ext cx="14173200" cy="914400"/>
          </a:xfrm>
          <a:prstGeom prst="rect">
            <a:avLst/>
          </a:prstGeom>
          <a:noFill/>
        </p:spPr>
        <p:txBody>
          <a:bodyPr wrap="square">
            <a:spAutoFit/>
          </a:bodyPr>
          <a:lstStyle/>
          <a:p>
            <a:r>
              <a:rPr sz="3200" b="1">
                <a:solidFill>
                  <a:srgbClr val="1F1F1F"/>
                </a:solidFill>
                <a:latin typeface="Calibri"/>
              </a:rPr>
              <a:t>Client Sign-Off and Final Review</a:t>
            </a:r>
          </a:p>
        </p:txBody>
      </p:sp>
      <p:sp>
        <p:nvSpPr>
          <p:cNvPr id="3" name="TextBox 2"/>
          <p:cNvSpPr txBox="1"/>
          <p:nvPr/>
        </p:nvSpPr>
        <p:spPr>
          <a:xfrm>
            <a:off x="457200" y="1508760"/>
            <a:ext cx="14173200" cy="8595360"/>
          </a:xfrm>
          <a:prstGeom prst="rect">
            <a:avLst/>
          </a:prstGeom>
          <a:noFill/>
        </p:spPr>
        <p:txBody>
          <a:bodyPr wrap="square">
            <a:spAutoFit/>
          </a:bodyPr>
          <a:lstStyle/>
          <a:p>
            <a:pPr>
              <a:spcAft>
                <a:spcPts val="800"/>
              </a:spcAft>
            </a:pPr>
            <a:r>
              <a:rPr sz="1600">
                <a:solidFill>
                  <a:srgbClr val="1F1F1F"/>
                </a:solidFill>
                <a:latin typeface="Calibri"/>
              </a:rPr>
              <a:t>The client was shown the finished organiser on 6 February and was asked to comment against the original brief.</a:t>
            </a:r>
          </a:p>
          <a:p>
            <a:pPr>
              <a:spcAft>
                <a:spcPts val="800"/>
              </a:spcAft>
            </a:pPr>
            <a:r>
              <a:rPr sz="1600">
                <a:solidFill>
                  <a:srgbClr val="1F1F1F"/>
                </a:solidFill>
                <a:latin typeface="Calibri"/>
              </a:rPr>
              <a:t>Client comment 1: the desk is much easier to work at, and the phone screen can be seen while it charges.</a:t>
            </a:r>
          </a:p>
          <a:p>
            <a:pPr>
              <a:spcAft>
                <a:spcPts val="800"/>
              </a:spcAft>
            </a:pPr>
            <a:r>
              <a:rPr sz="1600">
                <a:solidFill>
                  <a:srgbClr val="1F1F1F"/>
                </a:solidFill>
                <a:latin typeface="Calibri"/>
              </a:rPr>
              <a:t>Client comment 2: the pen well is good, but the sharpenings get stuck at the bottom.</a:t>
            </a:r>
          </a:p>
          <a:p>
            <a:pPr>
              <a:spcAft>
                <a:spcPts val="800"/>
              </a:spcAft>
            </a:pPr>
            <a:r>
              <a:rPr sz="1600">
                <a:solidFill>
                  <a:srgbClr val="1F1F1F"/>
                </a:solidFill>
                <a:latin typeface="Calibri"/>
              </a:rPr>
              <a:t>Client comment 3: it would be better if the same product were wider so that a tablet would fit.</a:t>
            </a:r>
          </a:p>
          <a:p>
            <a:pPr>
              <a:spcAft>
                <a:spcPts val="800"/>
              </a:spcAft>
            </a:pPr>
            <a:r>
              <a:rPr sz="1600">
                <a:solidFill>
                  <a:srgbClr val="1F1F1F"/>
                </a:solidFill>
                <a:latin typeface="Calibri"/>
              </a:rPr>
              <a:t>Client verdict: the client signed off the product as fit for purpose and confirmed that the storage and the charging requirements had been met. The drainage issue was recorded as an improvement rather than a fault, because it does not stop the product working.</a:t>
            </a:r>
          </a:p>
          <a:p>
            <a:pPr>
              <a:spcAft>
                <a:spcPts val="800"/>
              </a:spcAft>
            </a:pPr>
            <a:r>
              <a:rPr sz="1600">
                <a:solidFill>
                  <a:srgbClr val="1F1F1F"/>
                </a:solidFill>
                <a:latin typeface="Calibri"/>
              </a:rPr>
              <a:t>Teacher feedback: the joints were cut accurately and the finish was consistent, but the portfolio would be stronger if the evaluation used more measured data rather than the client's opinions alone.</a:t>
            </a:r>
          </a:p>
          <a:p>
            <a:pPr>
              <a:spcAft>
                <a:spcPts val="800"/>
              </a:spcAft>
            </a:pPr>
            <a:r>
              <a:rPr sz="1600">
                <a:solidFill>
                  <a:srgbClr val="1F1F1F"/>
                </a:solidFill>
                <a:latin typeface="Calibri"/>
              </a:rPr>
              <a:t>Final review against the brief: the organiser fits the 260 mm x 200 mm space, holds all nine items that were on the desk, holds the phone at 62 degrees and allows wireless charging, has a mass of 0.94 kg and cost 17.00 pounds in materials, which is inside the 18 pound budget.</a:t>
            </a:r>
          </a:p>
          <a:p>
            <a:pPr>
              <a:spcAft>
                <a:spcPts val="800"/>
              </a:spcAft>
            </a:pPr>
            <a:r>
              <a:rPr sz="1600">
                <a:solidFill>
                  <a:srgbClr val="1F1F1F"/>
                </a:solidFill>
                <a:latin typeface="Calibri"/>
              </a:rPr>
              <a:t>Signed off by the client and by the teacher on 6 February.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